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75" r:id="rId12"/>
    <p:sldId id="276" r:id="rId13"/>
    <p:sldId id="265" r:id="rId14"/>
    <p:sldId id="267" r:id="rId15"/>
    <p:sldId id="268" r:id="rId16"/>
    <p:sldId id="269" r:id="rId17"/>
    <p:sldId id="277" r:id="rId18"/>
    <p:sldId id="270" r:id="rId19"/>
    <p:sldId id="271" r:id="rId20"/>
    <p:sldId id="272" r:id="rId21"/>
    <p:sldId id="27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F32393-03CF-48C6-A8CB-651E2F850BDC}" v="6" dt="2026-07-01T18:47:40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80" d="100"/>
          <a:sy n="80" d="100"/>
        </p:scale>
        <p:origin x="754" y="-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B2545"/>
                </a:solidFill>
                <a:latin typeface="Arial"/>
              </a:rPr>
              <a:t>Key Metrics: Base vs Fine-tuned (higher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Model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reasoning_rouge1</c:v>
                </c:pt>
                <c:pt idx="1">
                  <c:v>reasoning_bleu4</c:v>
                </c:pt>
                <c:pt idx="2">
                  <c:v>answer_f1</c:v>
                </c:pt>
                <c:pt idx="3">
                  <c:v>answer_exact_match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0.49809999999999999</c:v>
                </c:pt>
                <c:pt idx="1">
                  <c:v>0.19520000000000001</c:v>
                </c:pt>
                <c:pt idx="2">
                  <c:v>0.32</c:v>
                </c:pt>
                <c:pt idx="3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BB-4A43-9119-2F5FC7F267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Fine-tuned Model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reasoning_rouge1</c:v>
                </c:pt>
                <c:pt idx="1">
                  <c:v>reasoning_bleu4</c:v>
                </c:pt>
                <c:pt idx="2">
                  <c:v>answer_f1</c:v>
                </c:pt>
                <c:pt idx="3">
                  <c:v>answer_exact_match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0.64839999999999998</c:v>
                </c:pt>
                <c:pt idx="1">
                  <c:v>0.42659999999999998</c:v>
                </c:pt>
                <c:pt idx="2">
                  <c:v>0.98</c:v>
                </c:pt>
                <c:pt idx="3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BB-4A43-9119-2F5FC7F267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027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EE6C4D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FaStethoscop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" y="91257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7373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VISUAL QUESTION ANSWERING</a:t>
            </a:r>
            <a:endParaRPr lang="en-US" sz="4400"/>
          </a:p>
        </p:txBody>
      </p:sp>
      <p:sp>
        <p:nvSpPr>
          <p:cNvPr id="7" name="Text 4"/>
          <p:cNvSpPr/>
          <p:nvPr/>
        </p:nvSpPr>
        <p:spPr>
          <a:xfrm>
            <a:off x="731520" y="3429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/>
          </a:p>
        </p:txBody>
      </p:sp>
      <p:sp>
        <p:nvSpPr>
          <p:cNvPr id="8" name="Shape 5"/>
          <p:cNvSpPr/>
          <p:nvPr/>
        </p:nvSpPr>
        <p:spPr>
          <a:xfrm>
            <a:off x="731520" y="4572000"/>
            <a:ext cx="475488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68680" y="46177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SWATHY T E</a:t>
            </a:r>
            <a:endParaRPr lang="en-US" sz="1800"/>
          </a:p>
          <a:p>
            <a:pPr marL="0" indent="0">
              <a:buNone/>
            </a:pPr>
            <a:r>
              <a:rPr lang="en-US" sz="13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Reg. No: MG24C7115007</a:t>
            </a:r>
            <a:endParaRPr lang="en-US" sz="1800"/>
          </a:p>
          <a:p>
            <a:pPr marL="0" indent="0">
              <a:buNone/>
            </a:pPr>
            <a:r>
              <a:rPr lang="en-US" sz="13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Guide: ANSUMAN MAHAPATRA</a:t>
            </a:r>
            <a:endParaRPr lang="en-US" sz="1800"/>
          </a:p>
          <a:p>
            <a:pPr marL="0" indent="0">
              <a:buNone/>
            </a:pPr>
            <a:r>
              <a:rPr lang="en-US" sz="13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Guide: JIBY JOSEPH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863840" y="4937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and Analytics</a:t>
            </a:r>
            <a:endParaRPr lang="en-US" sz="1300"/>
          </a:p>
          <a:p>
            <a:pPr marL="0" indent="0" algn="r">
              <a:buNone/>
            </a:pPr>
            <a:r>
              <a:rPr lang="en-US" sz="13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Data Analytics</a:t>
            </a:r>
            <a:endParaRPr lang="en-US" sz="1300"/>
          </a:p>
          <a:p>
            <a:pPr marL="0" indent="0" algn="r">
              <a:buNone/>
            </a:pPr>
            <a:r>
              <a:rPr lang="en-US" sz="13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Mahatma Gandhi University, Kottayam</a:t>
            </a:r>
            <a:endParaRPr lang="en-US" sz="1300"/>
          </a:p>
          <a:p>
            <a:pPr marL="0" indent="0" algn="r">
              <a:buNone/>
            </a:pPr>
            <a:r>
              <a:rPr lang="en-US" sz="13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766560" cy="4846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 algn="just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Visual Question Answering (Med-VQA) combines computer vision and NLP to answer clinical questions about medical images.</a:t>
            </a:r>
            <a:endParaRPr lang="en-US" sz="2000" dirty="0"/>
          </a:p>
          <a:p>
            <a:pPr marL="228600" indent="-228600" algn="just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Radiological imaging volumes are growing rapidly, while trained radiologists remain in short supply worldwide.</a:t>
            </a:r>
            <a:endParaRPr lang="en-US" sz="2000" dirty="0"/>
          </a:p>
          <a:p>
            <a:pPr marL="228600" indent="-228600" algn="just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General-purpose vision-language models lack specialized medical knowledge and reasoning ability.</a:t>
            </a:r>
            <a:endParaRPr lang="en-US" sz="2000" dirty="0">
              <a:latin typeface="Arial"/>
              <a:ea typeface="Calibri" panose="020F0502020204030204"/>
              <a:cs typeface="Arial"/>
            </a:endParaRPr>
          </a:p>
          <a:p>
            <a:pPr marL="228600" indent="-228600" algn="just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Goal: Fine-tune Google's MedGemma-4B-IT model using </a:t>
            </a:r>
            <a:r>
              <a:rPr lang="en-US" sz="2000" dirty="0" err="1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LoRA</a:t>
            </a:r>
            <a:r>
              <a:rPr lang="en-US" sz="2000" dirty="0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 on the </a:t>
            </a:r>
            <a:r>
              <a:rPr lang="en-US" sz="2000" dirty="0" err="1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RadImageNet</a:t>
            </a:r>
            <a:r>
              <a:rPr lang="en-US" sz="2000" dirty="0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-VQA dataset to build an accurate, reasoning-capable radiology VQA system.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0" y="1304457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01000" y="1755648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icons/FaXR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051" y="1936699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06840" y="1664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Radiology Images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900684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X-ray, CT, MRI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7772400" y="315468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001000" y="3447288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icons/FaBrai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051" y="3628339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006840" y="3355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Vision-Language Model</a:t>
            </a:r>
            <a:endParaRPr lang="en-US" sz="1500"/>
          </a:p>
        </p:txBody>
      </p:sp>
      <p:sp>
        <p:nvSpPr>
          <p:cNvPr id="13" name="Text 9"/>
          <p:cNvSpPr/>
          <p:nvPr/>
        </p:nvSpPr>
        <p:spPr>
          <a:xfrm>
            <a:off x="900684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MedGemma-4B-IT</a:t>
            </a:r>
            <a:endParaRPr lang="en-US" sz="1200"/>
          </a:p>
        </p:txBody>
      </p:sp>
      <p:sp>
        <p:nvSpPr>
          <p:cNvPr id="14" name="Shape 10"/>
          <p:cNvSpPr/>
          <p:nvPr/>
        </p:nvSpPr>
        <p:spPr>
          <a:xfrm>
            <a:off x="7772400" y="484632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001000" y="5138928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icons/Fa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2051" y="5319979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5047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Reasoned Answers</a:t>
            </a:r>
            <a:endParaRPr lang="en-US" sz="1500"/>
          </a:p>
        </p:txBody>
      </p:sp>
      <p:sp>
        <p:nvSpPr>
          <p:cNvPr id="18" name="Text 13"/>
          <p:cNvSpPr/>
          <p:nvPr/>
        </p:nvSpPr>
        <p:spPr>
          <a:xfrm>
            <a:off x="900684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 grounded</a:t>
            </a:r>
            <a:endParaRPr lang="en-US" sz="1200"/>
          </a:p>
        </p:txBody>
      </p:sp>
      <p:sp>
        <p:nvSpPr>
          <p:cNvPr id="19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OBJECTIVES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FaBulls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1852574"/>
            <a:ext cx="409651" cy="409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37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00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Scarcity of large-scale, high-quality medical VQA datasets across imaging modalities.</a:t>
            </a:r>
            <a:endParaRPr lang="en-US" sz="2000" dirty="0"/>
          </a:p>
          <a:p>
            <a:pPr marL="203200" indent="-203200" algn="just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models give short answers with no clinical reasoning, limiting clinical trust.</a:t>
            </a:r>
            <a:endParaRPr lang="en-US" sz="2000" dirty="0"/>
          </a:p>
          <a:p>
            <a:pPr marL="203200" indent="-203200" algn="just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shift between general VLMs and radiology image semantics.</a:t>
            </a:r>
            <a:endParaRPr lang="en-US" sz="2000" dirty="0"/>
          </a:p>
          <a:p>
            <a:pPr marL="203200" indent="-203200" algn="just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computationally feasible, domain-specific fine-tuning strategies.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000"/>
          </a:p>
        </p:txBody>
      </p:sp>
      <p:sp>
        <p:nvSpPr>
          <p:cNvPr id="9" name="Shape 6"/>
          <p:cNvSpPr/>
          <p:nvPr/>
        </p:nvSpPr>
        <p:spPr>
          <a:xfrm>
            <a:off x="6309360" y="2066544"/>
            <a:ext cx="384048" cy="384048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3093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6858000" y="1965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reasoning-augmented Med-VQA dataset from </a:t>
            </a:r>
            <a:r>
              <a:rPr lang="en-US" sz="14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RadImageNet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-VQA.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2907792"/>
            <a:ext cx="384048" cy="384048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3093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/>
          </a:p>
        </p:txBody>
      </p:sp>
      <p:sp>
        <p:nvSpPr>
          <p:cNvPr id="14" name="Text 11"/>
          <p:cNvSpPr/>
          <p:nvPr/>
        </p:nvSpPr>
        <p:spPr>
          <a:xfrm>
            <a:off x="6858000" y="2862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MedGemma-4B-IT using LoRA for parameter-efficient adaptation.</a:t>
            </a:r>
            <a:endParaRPr lang="en-US" sz="1400"/>
          </a:p>
        </p:txBody>
      </p:sp>
      <p:sp>
        <p:nvSpPr>
          <p:cNvPr id="15" name="Shape 12"/>
          <p:cNvSpPr/>
          <p:nvPr/>
        </p:nvSpPr>
        <p:spPr>
          <a:xfrm>
            <a:off x="6309360" y="3803904"/>
            <a:ext cx="384048" cy="384048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30936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/>
          </a:p>
        </p:txBody>
      </p:sp>
      <p:sp>
        <p:nvSpPr>
          <p:cNvPr id="17" name="Text 14"/>
          <p:cNvSpPr/>
          <p:nvPr/>
        </p:nvSpPr>
        <p:spPr>
          <a:xfrm>
            <a:off x="6858000" y="375818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model on held-out data (loss, perplexity, accuracy).</a:t>
            </a:r>
            <a:endParaRPr lang="en-US" sz="1400"/>
          </a:p>
        </p:txBody>
      </p:sp>
      <p:sp>
        <p:nvSpPr>
          <p:cNvPr id="18" name="Shape 15"/>
          <p:cNvSpPr/>
          <p:nvPr/>
        </p:nvSpPr>
        <p:spPr>
          <a:xfrm>
            <a:off x="6309360" y="4700016"/>
            <a:ext cx="384048" cy="384048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30936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/>
          </a:p>
        </p:txBody>
      </p:sp>
      <p:sp>
        <p:nvSpPr>
          <p:cNvPr id="20" name="Text 17"/>
          <p:cNvSpPr/>
          <p:nvPr/>
        </p:nvSpPr>
        <p:spPr>
          <a:xfrm>
            <a:off x="6858000" y="465429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base vs fine-tuned model with ROUGE, BLEU, EM and F1.</a:t>
            </a:r>
            <a:endParaRPr lang="en-US" sz="1400"/>
          </a:p>
        </p:txBody>
      </p:sp>
      <p:sp>
        <p:nvSpPr>
          <p:cNvPr id="21" name="Shape 18"/>
          <p:cNvSpPr/>
          <p:nvPr/>
        </p:nvSpPr>
        <p:spPr>
          <a:xfrm>
            <a:off x="6309360" y="5596128"/>
            <a:ext cx="384048" cy="384048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309360" y="5596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/>
          </a:p>
        </p:txBody>
      </p:sp>
      <p:sp>
        <p:nvSpPr>
          <p:cNvPr id="23" name="Text 20"/>
          <p:cNvSpPr/>
          <p:nvPr/>
        </p:nvSpPr>
        <p:spPr>
          <a:xfrm>
            <a:off x="6858000" y="55504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quantitative and qualitative improvements from fine-tuning.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7280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3167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417320" y="123444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Antol et al. (2015) introduced the original VQA task and benchmark for free-form question answering over images.</a:t>
            </a:r>
            <a:endParaRPr lang="en-US" sz="135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97280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417320" y="192024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 et al. (2018) introduced VQA-RAD, the first manually curated radiology VQA dataset.</a:t>
            </a:r>
            <a:endParaRPr lang="en-US" sz="135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1097280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26883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1417320" y="260604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 Abacha et al. (2019) proposed ImageCLEF VQA-Med with category-aware question routing.</a:t>
            </a:r>
            <a:endParaRPr lang="en-US" sz="135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1097280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77240" y="33741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417320" y="329184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et al. (2023) developed LLaVA-Med via instruction-tuning on biomedical figure-caption pairs.</a:t>
            </a:r>
            <a:endParaRPr lang="en-US" sz="135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1097280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40599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1417320" y="397764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et al. (2023) introduced BioMedCLIP, trained on 15M biomedical image-text pairs.</a:t>
            </a:r>
            <a:endParaRPr lang="en-US" sz="135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1097280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77240" y="47457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1417320" y="466344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et al. (2022) introduced LoRA - low-rank adaptation for efficient LLM fine-tuning, used in this project.</a:t>
            </a:r>
            <a:endParaRPr lang="en-US" sz="1350"/>
          </a:p>
        </p:txBody>
      </p:sp>
      <p:sp>
        <p:nvSpPr>
          <p:cNvPr id="27" name="Shape 25"/>
          <p:cNvSpPr/>
          <p:nvPr/>
        </p:nvSpPr>
        <p:spPr>
          <a:xfrm>
            <a:off x="640080" y="5349240"/>
            <a:ext cx="1097280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77240" y="54315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7724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1417320" y="534924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DeepMind (2024) released MedGemma - a medically pre-trained vision-language model family.</a:t>
            </a:r>
            <a:endParaRPr lang="en-US" sz="1350"/>
          </a:p>
        </p:txBody>
      </p:sp>
      <p:sp>
        <p:nvSpPr>
          <p:cNvPr id="31" name="Text 29"/>
          <p:cNvSpPr/>
          <p:nvPr/>
        </p:nvSpPr>
        <p:spPr>
          <a:xfrm>
            <a:off x="640080" y="6080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Domain-specific fine-tuning with LoRA [6] on reasoning-augmented data substantially improves Med-VQA performance over zero-shot baselines.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FULL PIPELINE</a:t>
            </a:r>
            <a:endParaRPr lang="en-US" sz="3200"/>
          </a:p>
        </p:txBody>
      </p:sp>
      <p:sp>
        <p:nvSpPr>
          <p:cNvPr id="4" name="Text 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5</a:t>
            </a:r>
            <a:endParaRPr lang="en-US" sz="11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A2E673-9F5C-E9E6-D9FD-235BC1457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32" y="521874"/>
            <a:ext cx="11611170" cy="62922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RadImageNet-VQA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669280" cy="4937760"/>
          </a:xfrm>
          <a:prstGeom prst="roundRect">
            <a:avLst>
              <a:gd name="adj" fmla="val 1481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Fa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691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Characteristics</a:t>
            </a:r>
            <a:endParaRPr lang="en-US" sz="190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269748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raidium/RadImageNet-VQA (Hugging Face)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Modalities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2697480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X-ray, CT, MRI, Ultrasound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86868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Types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2697480" y="3337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Open-ended, Closed-ended, Descriptive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868680" y="3840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Format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269748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Free-text natural language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86868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269748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Validation / Test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868680" y="4846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300"/>
          </a:p>
        </p:txBody>
      </p:sp>
      <p:sp>
        <p:nvSpPr>
          <p:cNvPr id="18" name="Text 15"/>
          <p:cNvSpPr/>
          <p:nvPr/>
        </p:nvSpPr>
        <p:spPr>
          <a:xfrm>
            <a:off x="2697480" y="4846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Radiology &amp; Medical Imaging</a:t>
            </a:r>
            <a:endParaRPr lang="en-US" sz="1300"/>
          </a:p>
        </p:txBody>
      </p:sp>
      <p:sp>
        <p:nvSpPr>
          <p:cNvPr id="19" name="Shape 16"/>
          <p:cNvSpPr/>
          <p:nvPr/>
        </p:nvSpPr>
        <p:spPr>
          <a:xfrm>
            <a:off x="868680" y="5440680"/>
            <a:ext cx="457200" cy="457200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1" descr="/home/claude/icons/FaLin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541264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63040" y="5440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https://huggingface.co/datasets/raidium/RadImageNet-VQA</a:t>
            </a:r>
            <a:endParaRPr lang="en-US" sz="1200"/>
          </a:p>
        </p:txBody>
      </p:sp>
      <p:pic>
        <p:nvPicPr>
          <p:cNvPr id="22" name="Image 2" descr="/home/claude/imgs/dataset_card_exam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854" y="1306286"/>
            <a:ext cx="5645506" cy="50030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ARCHITECTURE: MedGemma-4B-IT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google/medgemma-4b-it - a 4B parameter multimodal instruction-tuned model from Google's Gemma 3 family, pre-trained on diverse medical imaging data.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0868" y="246888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63828" y="27432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icons/FaXR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879" y="292425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8028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Image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78028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 / CT / MRI input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37180" y="3447288"/>
            <a:ext cx="356616" cy="23774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421228" y="246888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244188" y="2743200"/>
            <a:ext cx="822960" cy="82296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icons/FaMicroscop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239" y="292425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58388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SigLIP Vision Encoder</a:t>
            </a:r>
            <a:endParaRPr lang="en-US" sz="1400"/>
          </a:p>
        </p:txBody>
      </p:sp>
      <p:sp>
        <p:nvSpPr>
          <p:cNvPr id="14" name="Text 10"/>
          <p:cNvSpPr/>
          <p:nvPr/>
        </p:nvSpPr>
        <p:spPr>
          <a:xfrm>
            <a:off x="3558388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feature extraction</a:t>
            </a:r>
            <a:endParaRPr lang="en-US" sz="1100"/>
          </a:p>
        </p:txBody>
      </p:sp>
      <p:sp>
        <p:nvSpPr>
          <p:cNvPr id="15" name="Shape 11"/>
          <p:cNvSpPr/>
          <p:nvPr/>
        </p:nvSpPr>
        <p:spPr>
          <a:xfrm>
            <a:off x="5917540" y="3447288"/>
            <a:ext cx="356616" cy="23774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301588" y="246888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124548" y="27432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/home/claude/icons/FaBrai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5599" y="2924251"/>
            <a:ext cx="460858" cy="4608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38748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Gemma-3 Language Backbone</a:t>
            </a:r>
            <a:endParaRPr lang="en-US" sz="1400"/>
          </a:p>
        </p:txBody>
      </p:sp>
      <p:sp>
        <p:nvSpPr>
          <p:cNvPr id="20" name="Text 15"/>
          <p:cNvSpPr/>
          <p:nvPr/>
        </p:nvSpPr>
        <p:spPr>
          <a:xfrm>
            <a:off x="6438748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Grouped-query attention + RoPE</a:t>
            </a:r>
            <a:endParaRPr lang="en-US" sz="1100"/>
          </a:p>
        </p:txBody>
      </p:sp>
      <p:sp>
        <p:nvSpPr>
          <p:cNvPr id="21" name="Shape 16"/>
          <p:cNvSpPr/>
          <p:nvPr/>
        </p:nvSpPr>
        <p:spPr>
          <a:xfrm>
            <a:off x="8797900" y="3447288"/>
            <a:ext cx="356616" cy="23774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9181948" y="246888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10004908" y="2743200"/>
            <a:ext cx="822960" cy="822960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/home/claude/icons/FaFileA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5959" y="2924251"/>
            <a:ext cx="460858" cy="46085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19108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Answer</a:t>
            </a:r>
            <a:endParaRPr lang="en-US" sz="1400"/>
          </a:p>
        </p:txBody>
      </p:sp>
      <p:sp>
        <p:nvSpPr>
          <p:cNvPr id="26" name="Text 20"/>
          <p:cNvSpPr/>
          <p:nvPr/>
        </p:nvSpPr>
        <p:spPr>
          <a:xfrm>
            <a:off x="9319108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+ final answer</a:t>
            </a:r>
            <a:endParaRPr lang="en-US" sz="1100"/>
          </a:p>
        </p:txBody>
      </p:sp>
      <p:sp>
        <p:nvSpPr>
          <p:cNvPr id="27" name="Text 21"/>
          <p:cNvSpPr/>
          <p:nvPr/>
        </p:nvSpPr>
        <p:spPr>
          <a:xfrm>
            <a:off x="822960" y="50749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encoder converts medical images into visual tokens grounded in medical pre-training.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tokens are </a:t>
            </a:r>
            <a:r>
              <a:rPr lang="en-US" sz="1600" dirty="0"/>
              <a:t>combined with the user's question and passed to the </a:t>
            </a:r>
            <a:r>
              <a:rPr lang="en-US" sz="1600" b="1" dirty="0"/>
              <a:t>Gemma-3 Language Backbone</a:t>
            </a: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pre-training gives </a:t>
            </a:r>
            <a:r>
              <a:rPr lang="en-US" sz="16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MedGemma</a:t>
            </a: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strong starting point for radiology-specific fine-tuning.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7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FINE-TUNING STRATEGY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937760"/>
          </a:xfrm>
          <a:prstGeom prst="roundRect">
            <a:avLst>
              <a:gd name="adj" fmla="val 1481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FaSliders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1852574"/>
            <a:ext cx="409651" cy="409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Low-Rank Adaptation (LoRA)</a:t>
            </a:r>
            <a:endParaRPr lang="en-US" sz="190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updating all 4B parameters, </a:t>
            </a:r>
            <a:r>
              <a:rPr lang="en-US" sz="1400" dirty="0" err="1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</a:t>
            </a:r>
            <a:r>
              <a:rPr lang="en-US" sz="1400" dirty="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injects small trainable low-rank matrices A and B into selected layers: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E6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ΔW = B × A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and B are trained; the original weight matrix W stays frozen.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48463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 loaded in bfloat16 - NO quantization applied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adapters injected into attention 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~42M of ~4B parameters (~1%) are trainable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Configuration</a:t>
            </a:r>
            <a:endParaRPr lang="en-US" sz="1900"/>
          </a:p>
        </p:txBody>
      </p:sp>
      <p:sp>
        <p:nvSpPr>
          <p:cNvPr id="10" name="Shape 7"/>
          <p:cNvSpPr/>
          <p:nvPr/>
        </p:nvSpPr>
        <p:spPr>
          <a:xfrm>
            <a:off x="6583680" y="2057400"/>
            <a:ext cx="5029200" cy="566928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720840" y="20574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Rank (r)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8869680" y="20574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6583680" y="2624328"/>
            <a:ext cx="50292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720840" y="26243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Alpha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8869680" y="26243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6583680" y="3191256"/>
            <a:ext cx="5029200" cy="566928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720840" y="31912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Dropout</a:t>
            </a:r>
            <a:endParaRPr lang="en-US" sz="1300"/>
          </a:p>
        </p:txBody>
      </p:sp>
      <p:sp>
        <p:nvSpPr>
          <p:cNvPr id="18" name="Text 15"/>
          <p:cNvSpPr/>
          <p:nvPr/>
        </p:nvSpPr>
        <p:spPr>
          <a:xfrm>
            <a:off x="8869680" y="31912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</a:t>
            </a:r>
            <a:endParaRPr lang="en-US" sz="1300"/>
          </a:p>
        </p:txBody>
      </p:sp>
      <p:sp>
        <p:nvSpPr>
          <p:cNvPr id="19" name="Shape 16"/>
          <p:cNvSpPr/>
          <p:nvPr/>
        </p:nvSpPr>
        <p:spPr>
          <a:xfrm>
            <a:off x="6583680" y="3758184"/>
            <a:ext cx="50292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720840" y="37581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Modules</a:t>
            </a:r>
            <a:endParaRPr lang="en-US" sz="1300"/>
          </a:p>
        </p:txBody>
      </p:sp>
      <p:sp>
        <p:nvSpPr>
          <p:cNvPr id="21" name="Text 18"/>
          <p:cNvSpPr/>
          <p:nvPr/>
        </p:nvSpPr>
        <p:spPr>
          <a:xfrm>
            <a:off x="8869680" y="37581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q,k,v,o_proj, gate,up,down_proj</a:t>
            </a:r>
            <a:endParaRPr lang="en-US" sz="1300"/>
          </a:p>
        </p:txBody>
      </p:sp>
      <p:sp>
        <p:nvSpPr>
          <p:cNvPr id="22" name="Shape 19"/>
          <p:cNvSpPr/>
          <p:nvPr/>
        </p:nvSpPr>
        <p:spPr>
          <a:xfrm>
            <a:off x="6583680" y="4325112"/>
            <a:ext cx="5029200" cy="566928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720840" y="43251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Precision</a:t>
            </a:r>
            <a:endParaRPr lang="en-US" sz="1300"/>
          </a:p>
        </p:txBody>
      </p:sp>
      <p:sp>
        <p:nvSpPr>
          <p:cNvPr id="24" name="Text 21"/>
          <p:cNvSpPr/>
          <p:nvPr/>
        </p:nvSpPr>
        <p:spPr>
          <a:xfrm>
            <a:off x="8869680" y="43251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bfloat16 (no quantization)</a:t>
            </a:r>
            <a:endParaRPr lang="en-US" sz="1300"/>
          </a:p>
        </p:txBody>
      </p:sp>
      <p:sp>
        <p:nvSpPr>
          <p:cNvPr id="25" name="Shape 22"/>
          <p:cNvSpPr/>
          <p:nvPr/>
        </p:nvSpPr>
        <p:spPr>
          <a:xfrm>
            <a:off x="6583680" y="4892040"/>
            <a:ext cx="50292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720840" y="48920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 Params</a:t>
            </a:r>
            <a:endParaRPr lang="en-US" sz="1300"/>
          </a:p>
        </p:txBody>
      </p:sp>
      <p:sp>
        <p:nvSpPr>
          <p:cNvPr id="27" name="Text 24"/>
          <p:cNvSpPr/>
          <p:nvPr/>
        </p:nvSpPr>
        <p:spPr>
          <a:xfrm>
            <a:off x="8869680" y="4892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~42M (~1% of 4B)</a:t>
            </a:r>
            <a:endParaRPr lang="en-US" sz="1300"/>
          </a:p>
        </p:txBody>
      </p:sp>
      <p:sp>
        <p:nvSpPr>
          <p:cNvPr id="28" name="Text 2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 &amp; PROCESS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4264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26280" y="13716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09160" y="16733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709160" y="19385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Precision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0" y="13716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595360" y="14264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steps</a:t>
            </a:r>
            <a:endParaRPr lang="en-US" sz="1900"/>
          </a:p>
        </p:txBody>
      </p:sp>
      <p:sp>
        <p:nvSpPr>
          <p:cNvPr id="11" name="Text 9"/>
          <p:cNvSpPr/>
          <p:nvPr/>
        </p:nvSpPr>
        <p:spPr>
          <a:xfrm>
            <a:off x="8595360" y="1810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Grad. Accumulation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23408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00"/>
          </a:p>
        </p:txBody>
      </p:sp>
      <p:sp>
        <p:nvSpPr>
          <p:cNvPr id="14" name="Text 12"/>
          <p:cNvSpPr/>
          <p:nvPr/>
        </p:nvSpPr>
        <p:spPr>
          <a:xfrm>
            <a:off x="822960" y="2724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Batch Size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526280" y="22860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09160" y="23408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2e-4</a:t>
            </a:r>
            <a:endParaRPr lang="en-US" sz="1900"/>
          </a:p>
        </p:txBody>
      </p:sp>
      <p:sp>
        <p:nvSpPr>
          <p:cNvPr id="17" name="Text 15"/>
          <p:cNvSpPr/>
          <p:nvPr/>
        </p:nvSpPr>
        <p:spPr>
          <a:xfrm>
            <a:off x="4709160" y="2724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8366760" y="2304661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8549640" y="2304661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adamw_torch</a:t>
            </a:r>
            <a:endParaRPr lang="en-US" sz="1900"/>
          </a:p>
        </p:txBody>
      </p:sp>
      <p:sp>
        <p:nvSpPr>
          <p:cNvPr id="39" name="Shape 37"/>
          <p:cNvSpPr/>
          <p:nvPr/>
        </p:nvSpPr>
        <p:spPr>
          <a:xfrm>
            <a:off x="548640" y="4315969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90956" y="433463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SFTTrainer</a:t>
            </a:r>
            <a:r>
              <a:rPr lang="en-US" sz="1300" dirty="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(TRL) performs supervised fine-tuning: cross-entropy loss computed only on answer tokens (prompt tokens masked), with </a:t>
            </a:r>
            <a:r>
              <a:rPr lang="en-US" sz="1300" dirty="0" err="1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</a:t>
            </a:r>
            <a:r>
              <a:rPr lang="en-US" sz="1300" dirty="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gradients updated via gradient-accumulated backward passes.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9</a:t>
            </a:r>
            <a:endParaRPr lang="en-US" sz="1100"/>
          </a:p>
        </p:txBody>
      </p:sp>
      <p:sp>
        <p:nvSpPr>
          <p:cNvPr id="18" name="Text 24">
            <a:extLst>
              <a:ext uri="{FF2B5EF4-FFF2-40B4-BE49-F238E27FC236}">
                <a16:creationId xmlns:a16="http://schemas.microsoft.com/office/drawing/2014/main" id="{864C758E-FD0B-416A-F789-5EC06F280F03}"/>
              </a:ext>
            </a:extLst>
          </p:cNvPr>
          <p:cNvSpPr/>
          <p:nvPr/>
        </p:nvSpPr>
        <p:spPr>
          <a:xfrm>
            <a:off x="8549640" y="269822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6A236E-4655-F266-EC03-29B4A2CBB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310" y="1157270"/>
            <a:ext cx="4426322" cy="4823651"/>
          </a:xfrm>
          <a:prstGeom prst="rect">
            <a:avLst/>
          </a:prstGeom>
        </p:spPr>
      </p:pic>
      <p:sp>
        <p:nvSpPr>
          <p:cNvPr id="20" name="Caption 1"/>
          <p:cNvSpPr txBox="1"/>
          <p:nvPr/>
        </p:nvSpPr>
        <p:spPr>
          <a:xfrm>
            <a:off x="3508310" y="5990922"/>
            <a:ext cx="4634204" cy="52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1200" i="1" dirty="0">
                <a:solidFill>
                  <a:srgbClr val="64748B"/>
                </a:solidFill>
              </a:rPr>
              <a:t>Example CT scan (abdomen) used as the input image for the sample VQA queries in this section.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DAEC9-3F6D-3EAC-F4E9-94D026AD2A0E}"/>
              </a:ext>
            </a:extLst>
          </p:cNvPr>
          <p:cNvSpPr txBox="1"/>
          <p:nvPr/>
        </p:nvSpPr>
        <p:spPr>
          <a:xfrm>
            <a:off x="2743200" y="273546"/>
            <a:ext cx="62795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SAMPLE MODEL OUTPUTS</a:t>
            </a:r>
            <a:endParaRPr lang="en-IN" sz="4400" b="1" dirty="0"/>
          </a:p>
        </p:txBody>
      </p:sp>
      <p:sp>
        <p:nvSpPr>
          <p:cNvPr id="5" name="Text 39">
            <a:extLst>
              <a:ext uri="{FF2B5EF4-FFF2-40B4-BE49-F238E27FC236}">
                <a16:creationId xmlns:a16="http://schemas.microsoft.com/office/drawing/2014/main" id="{98CCB125-25BD-0C71-8254-D6804A19F6AF}"/>
              </a:ext>
            </a:extLst>
          </p:cNvPr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10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024947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73153A-AB85-7929-4A61-A791EF437A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36" t="13456" r="52753" b="7741"/>
          <a:stretch>
            <a:fillRect/>
          </a:stretch>
        </p:blipFill>
        <p:spPr>
          <a:xfrm>
            <a:off x="6326158" y="773041"/>
            <a:ext cx="5295276" cy="5044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C03492-8681-FA5D-3CBC-25297E3572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96" t="9763" r="52689" b="3212"/>
          <a:stretch>
            <a:fillRect/>
          </a:stretch>
        </p:blipFill>
        <p:spPr>
          <a:xfrm>
            <a:off x="570566" y="856862"/>
            <a:ext cx="5596969" cy="4960619"/>
          </a:xfrm>
          <a:prstGeom prst="rect">
            <a:avLst/>
          </a:prstGeom>
        </p:spPr>
      </p:pic>
      <p:sp>
        <p:nvSpPr>
          <p:cNvPr id="20" name="Caption Left"/>
          <p:cNvSpPr txBox="1"/>
          <p:nvPr/>
        </p:nvSpPr>
        <p:spPr>
          <a:xfrm>
            <a:off x="570566" y="5867481"/>
            <a:ext cx="5596969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1200" i="1">
                <a:solidFill>
                  <a:srgbClr val="64748B"/>
                </a:solidFill>
              </a:rPr>
              <a:t>Model reasoning and predictions for Questions 1–3</a:t>
            </a:r>
          </a:p>
        </p:txBody>
      </p:sp>
      <p:sp>
        <p:nvSpPr>
          <p:cNvPr id="21" name="Caption Right"/>
          <p:cNvSpPr txBox="1"/>
          <p:nvPr/>
        </p:nvSpPr>
        <p:spPr>
          <a:xfrm>
            <a:off x="6326158" y="5867481"/>
            <a:ext cx="5295276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1200" i="1">
                <a:solidFill>
                  <a:srgbClr val="64748B"/>
                </a:solidFill>
              </a:rPr>
              <a:t>Model reasoning and predictions for Questions 4–6</a:t>
            </a:r>
          </a:p>
        </p:txBody>
      </p:sp>
      <p:sp>
        <p:nvSpPr>
          <p:cNvPr id="8" name="Text 39">
            <a:extLst>
              <a:ext uri="{FF2B5EF4-FFF2-40B4-BE49-F238E27FC236}">
                <a16:creationId xmlns:a16="http://schemas.microsoft.com/office/drawing/2014/main" id="{130878B6-5813-021C-118B-5968BB98F661}"/>
              </a:ext>
            </a:extLst>
          </p:cNvPr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11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93296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3A8F76-E4D6-E5C0-CBFD-AFF3838BC1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12" t="11324" r="55813" b="8289"/>
          <a:stretch>
            <a:fillRect/>
          </a:stretch>
        </p:blipFill>
        <p:spPr>
          <a:xfrm>
            <a:off x="297179" y="502919"/>
            <a:ext cx="5301187" cy="52727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64BE9C-CA92-4357-811B-8BE1773083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65" t="17160" r="54225" b="2283"/>
          <a:stretch>
            <a:fillRect/>
          </a:stretch>
        </p:blipFill>
        <p:spPr>
          <a:xfrm>
            <a:off x="5598366" y="449580"/>
            <a:ext cx="5994761" cy="5272728"/>
          </a:xfrm>
          <a:prstGeom prst="rect">
            <a:avLst/>
          </a:prstGeom>
        </p:spPr>
      </p:pic>
      <p:sp>
        <p:nvSpPr>
          <p:cNvPr id="20" name="Caption Left"/>
          <p:cNvSpPr txBox="1"/>
          <p:nvPr/>
        </p:nvSpPr>
        <p:spPr>
          <a:xfrm>
            <a:off x="297179" y="5825648"/>
            <a:ext cx="5301187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1200" i="1">
                <a:solidFill>
                  <a:srgbClr val="64748B"/>
                </a:solidFill>
              </a:rPr>
              <a:t>Model reasoning and predictions for Questions 6–9</a:t>
            </a:r>
          </a:p>
        </p:txBody>
      </p:sp>
      <p:sp>
        <p:nvSpPr>
          <p:cNvPr id="21" name="Caption Right"/>
          <p:cNvSpPr txBox="1"/>
          <p:nvPr/>
        </p:nvSpPr>
        <p:spPr>
          <a:xfrm>
            <a:off x="5598366" y="5825648"/>
            <a:ext cx="5994761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1200" i="1">
                <a:solidFill>
                  <a:srgbClr val="64748B"/>
                </a:solidFill>
              </a:rPr>
              <a:t>Question 9 reasoning and final accuracy summary (7/9 correct, 77.8%)</a:t>
            </a:r>
          </a:p>
        </p:txBody>
      </p:sp>
      <p:sp>
        <p:nvSpPr>
          <p:cNvPr id="10" name="Text 39">
            <a:extLst>
              <a:ext uri="{FF2B5EF4-FFF2-40B4-BE49-F238E27FC236}">
                <a16:creationId xmlns:a16="http://schemas.microsoft.com/office/drawing/2014/main" id="{B1FF1CA2-4A5E-E934-6B2C-89722BFC6845}"/>
              </a:ext>
            </a:extLst>
          </p:cNvPr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12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671958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VALIDATION: TRAINING &amp; EVAL LOSS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71500" y="1399032"/>
            <a:ext cx="5349240" cy="3378419"/>
          </a:xfrm>
          <a:prstGeom prst="roundRect">
            <a:avLst>
              <a:gd name="adj" fmla="val 1606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imgs/Screenshot_2026-05-20_1941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143000"/>
            <a:ext cx="5504549" cy="41474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62993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4.1: Training Loss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640080" y="58978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falls from ~0.61 to ~0.05-0.06 by step ~180, showing rapid LoRA convergence.</a:t>
            </a:r>
            <a:endParaRPr lang="en-US" sz="1050"/>
          </a:p>
        </p:txBody>
      </p:sp>
      <p:sp>
        <p:nvSpPr>
          <p:cNvPr id="7" name="Shape 4"/>
          <p:cNvSpPr/>
          <p:nvPr/>
        </p:nvSpPr>
        <p:spPr>
          <a:xfrm>
            <a:off x="6217920" y="1399032"/>
            <a:ext cx="5349240" cy="3405851"/>
          </a:xfrm>
          <a:prstGeom prst="roundRect">
            <a:avLst>
              <a:gd name="adj" fmla="val 1611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imgs/Screenshot_2026-05-20_1941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143000"/>
            <a:ext cx="5257800" cy="41474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0" y="55778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4.2: Evaluation Loss</a:t>
            </a:r>
            <a:endParaRPr lang="en-US" sz="1300"/>
          </a:p>
        </p:txBody>
      </p:sp>
      <p:sp>
        <p:nvSpPr>
          <p:cNvPr id="10" name="Text 6"/>
          <p:cNvSpPr/>
          <p:nvPr/>
        </p:nvSpPr>
        <p:spPr>
          <a:xfrm>
            <a:off x="6400800" y="58978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loss drops from ~0.201 (epoch 1) to ~0.163 (epoch 2-3), confirming good generalization, no overfitting.</a:t>
            </a:r>
            <a:endParaRPr lang="en-US" sz="1050"/>
          </a:p>
        </p:txBody>
      </p:sp>
      <p:sp>
        <p:nvSpPr>
          <p:cNvPr id="11" name="Text 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13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VALIDATION: TRAINING &amp; EVAL ACCURACY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3518514"/>
          </a:xfrm>
          <a:prstGeom prst="roundRect">
            <a:avLst>
              <a:gd name="adj" fmla="val 1559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imgs/Screenshot_2026-05-20_1942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284997"/>
            <a:ext cx="5349239" cy="36051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4976717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4.3: Training Accuracy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731520" y="5212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Rises from ~54% to a plateau of ~94-95% by the end of training (step ~180).</a:t>
            </a:r>
            <a:endParaRPr lang="en-US" sz="105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349240" cy="3388117"/>
          </a:xfrm>
          <a:prstGeom prst="roundRect">
            <a:avLst>
              <a:gd name="adj" fmla="val 1619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imgs/Screenshot_2026-05-20_1942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84997"/>
            <a:ext cx="5257800" cy="35204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4956855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4.4: Evaluation Accuracy</a:t>
            </a:r>
            <a:endParaRPr lang="en-US" sz="1300"/>
          </a:p>
        </p:txBody>
      </p:sp>
      <p:sp>
        <p:nvSpPr>
          <p:cNvPr id="10" name="Text 6"/>
          <p:cNvSpPr/>
          <p:nvPr/>
        </p:nvSpPr>
        <p:spPr>
          <a:xfrm>
            <a:off x="6355080" y="5212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from ~81% (epoch 1) to a best of 85% (epoch 2), sustained at epoch 3.</a:t>
            </a:r>
            <a:endParaRPr lang="en-US" sz="1050"/>
          </a:p>
        </p:txBody>
      </p:sp>
      <p:sp>
        <p:nvSpPr>
          <p:cNvPr id="11" name="Shape 7"/>
          <p:cNvSpPr/>
          <p:nvPr/>
        </p:nvSpPr>
        <p:spPr>
          <a:xfrm>
            <a:off x="640080" y="5806440"/>
            <a:ext cx="10908792" cy="640080"/>
          </a:xfrm>
          <a:prstGeom prst="roundRect">
            <a:avLst>
              <a:gd name="adj" fmla="val 8571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91440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4.1-4.4 together confirm stable convergence with no overfitting across all 3 training epochs.</a:t>
            </a:r>
            <a:endParaRPr lang="en-US" sz="1300"/>
          </a:p>
        </p:txBody>
      </p:sp>
      <p:sp>
        <p:nvSpPr>
          <p:cNvPr id="13" name="Text 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14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BASE vs FINE-TUNED MODEL</a:t>
            </a:r>
            <a:endParaRPr lang="en-US" sz="320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796383820"/>
              </p:ext>
            </p:extLst>
          </p:nvPr>
        </p:nvGraphicFramePr>
        <p:xfrm>
          <a:off x="548640" y="1325880"/>
          <a:ext cx="640080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7223760" y="1325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Summary (selected metrics)</a:t>
            </a:r>
            <a:endParaRPr lang="en-US" sz="1600"/>
          </a:p>
        </p:txBody>
      </p:sp>
      <p:sp>
        <p:nvSpPr>
          <p:cNvPr id="5" name="Shape 2"/>
          <p:cNvSpPr/>
          <p:nvPr/>
        </p:nvSpPr>
        <p:spPr>
          <a:xfrm>
            <a:off x="7223760" y="1828800"/>
            <a:ext cx="4572000" cy="4572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296912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150"/>
          </a:p>
        </p:txBody>
      </p:sp>
      <p:sp>
        <p:nvSpPr>
          <p:cNvPr id="7" name="Text 4"/>
          <p:cNvSpPr/>
          <p:nvPr/>
        </p:nvSpPr>
        <p:spPr>
          <a:xfrm>
            <a:off x="9125712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150"/>
          </a:p>
        </p:txBody>
      </p:sp>
      <p:sp>
        <p:nvSpPr>
          <p:cNvPr id="8" name="Text 5"/>
          <p:cNvSpPr/>
          <p:nvPr/>
        </p:nvSpPr>
        <p:spPr>
          <a:xfrm>
            <a:off x="9948672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</a:t>
            </a:r>
            <a:endParaRPr lang="en-US" sz="1150"/>
          </a:p>
        </p:txBody>
      </p:sp>
      <p:sp>
        <p:nvSpPr>
          <p:cNvPr id="9" name="Text 6"/>
          <p:cNvSpPr/>
          <p:nvPr/>
        </p:nvSpPr>
        <p:spPr>
          <a:xfrm>
            <a:off x="10954512" y="1828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150"/>
          </a:p>
        </p:txBody>
      </p:sp>
      <p:sp>
        <p:nvSpPr>
          <p:cNvPr id="10" name="Shape 7"/>
          <p:cNvSpPr/>
          <p:nvPr/>
        </p:nvSpPr>
        <p:spPr>
          <a:xfrm>
            <a:off x="7223760" y="2286000"/>
            <a:ext cx="4572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296912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reasoning_rouge1</a:t>
            </a:r>
            <a:endParaRPr lang="en-US" sz="1150"/>
          </a:p>
        </p:txBody>
      </p:sp>
      <p:sp>
        <p:nvSpPr>
          <p:cNvPr id="12" name="Text 9"/>
          <p:cNvSpPr/>
          <p:nvPr/>
        </p:nvSpPr>
        <p:spPr>
          <a:xfrm>
            <a:off x="9125712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0.498</a:t>
            </a:r>
            <a:endParaRPr lang="en-US" sz="1150"/>
          </a:p>
        </p:txBody>
      </p:sp>
      <p:sp>
        <p:nvSpPr>
          <p:cNvPr id="13" name="Text 10"/>
          <p:cNvSpPr/>
          <p:nvPr/>
        </p:nvSpPr>
        <p:spPr>
          <a:xfrm>
            <a:off x="9948672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0.648</a:t>
            </a:r>
            <a:endParaRPr lang="en-US" sz="1150"/>
          </a:p>
        </p:txBody>
      </p:sp>
      <p:sp>
        <p:nvSpPr>
          <p:cNvPr id="14" name="Text 11"/>
          <p:cNvSpPr/>
          <p:nvPr/>
        </p:nvSpPr>
        <p:spPr>
          <a:xfrm>
            <a:off x="10954512" y="2286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+0.150</a:t>
            </a:r>
            <a:endParaRPr lang="en-US" sz="1150"/>
          </a:p>
        </p:txBody>
      </p:sp>
      <p:sp>
        <p:nvSpPr>
          <p:cNvPr id="15" name="Shape 12"/>
          <p:cNvSpPr/>
          <p:nvPr/>
        </p:nvSpPr>
        <p:spPr>
          <a:xfrm>
            <a:off x="7223760" y="2743200"/>
            <a:ext cx="4572000" cy="457200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296912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reasoning_bleu4</a:t>
            </a:r>
            <a:endParaRPr lang="en-US" sz="1150"/>
          </a:p>
        </p:txBody>
      </p:sp>
      <p:sp>
        <p:nvSpPr>
          <p:cNvPr id="17" name="Text 14"/>
          <p:cNvSpPr/>
          <p:nvPr/>
        </p:nvSpPr>
        <p:spPr>
          <a:xfrm>
            <a:off x="9125712" y="2743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0.195</a:t>
            </a:r>
            <a:endParaRPr lang="en-US" sz="1150"/>
          </a:p>
        </p:txBody>
      </p:sp>
      <p:sp>
        <p:nvSpPr>
          <p:cNvPr id="18" name="Text 15"/>
          <p:cNvSpPr/>
          <p:nvPr/>
        </p:nvSpPr>
        <p:spPr>
          <a:xfrm>
            <a:off x="9948672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0.427</a:t>
            </a:r>
            <a:endParaRPr lang="en-US" sz="1150"/>
          </a:p>
        </p:txBody>
      </p:sp>
      <p:sp>
        <p:nvSpPr>
          <p:cNvPr id="19" name="Text 16"/>
          <p:cNvSpPr/>
          <p:nvPr/>
        </p:nvSpPr>
        <p:spPr>
          <a:xfrm>
            <a:off x="10954512" y="2743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+0.231</a:t>
            </a:r>
            <a:endParaRPr lang="en-US" sz="1150"/>
          </a:p>
        </p:txBody>
      </p:sp>
      <p:sp>
        <p:nvSpPr>
          <p:cNvPr id="20" name="Shape 17"/>
          <p:cNvSpPr/>
          <p:nvPr/>
        </p:nvSpPr>
        <p:spPr>
          <a:xfrm>
            <a:off x="7223760" y="3200400"/>
            <a:ext cx="4572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296912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answer_rouge1</a:t>
            </a:r>
            <a:endParaRPr lang="en-US" sz="1150"/>
          </a:p>
        </p:txBody>
      </p:sp>
      <p:sp>
        <p:nvSpPr>
          <p:cNvPr id="22" name="Text 19"/>
          <p:cNvSpPr/>
          <p:nvPr/>
        </p:nvSpPr>
        <p:spPr>
          <a:xfrm>
            <a:off x="9125712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0.347</a:t>
            </a:r>
            <a:endParaRPr lang="en-US" sz="1150"/>
          </a:p>
        </p:txBody>
      </p:sp>
      <p:sp>
        <p:nvSpPr>
          <p:cNvPr id="23" name="Text 20"/>
          <p:cNvSpPr/>
          <p:nvPr/>
        </p:nvSpPr>
        <p:spPr>
          <a:xfrm>
            <a:off x="9948672" y="3200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0.980</a:t>
            </a:r>
            <a:endParaRPr lang="en-US" sz="1150"/>
          </a:p>
        </p:txBody>
      </p:sp>
      <p:sp>
        <p:nvSpPr>
          <p:cNvPr id="24" name="Text 21"/>
          <p:cNvSpPr/>
          <p:nvPr/>
        </p:nvSpPr>
        <p:spPr>
          <a:xfrm>
            <a:off x="10954512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+0.633</a:t>
            </a:r>
            <a:endParaRPr lang="en-US" sz="1150"/>
          </a:p>
        </p:txBody>
      </p:sp>
      <p:sp>
        <p:nvSpPr>
          <p:cNvPr id="25" name="Shape 22"/>
          <p:cNvSpPr/>
          <p:nvPr/>
        </p:nvSpPr>
        <p:spPr>
          <a:xfrm>
            <a:off x="7223760" y="3657600"/>
            <a:ext cx="4572000" cy="457200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7296912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answer_bleu4</a:t>
            </a:r>
            <a:endParaRPr lang="en-US" sz="1150"/>
          </a:p>
        </p:txBody>
      </p:sp>
      <p:sp>
        <p:nvSpPr>
          <p:cNvPr id="27" name="Text 24"/>
          <p:cNvSpPr/>
          <p:nvPr/>
        </p:nvSpPr>
        <p:spPr>
          <a:xfrm>
            <a:off x="9125712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0.063</a:t>
            </a:r>
            <a:endParaRPr lang="en-US" sz="1150"/>
          </a:p>
        </p:txBody>
      </p:sp>
      <p:sp>
        <p:nvSpPr>
          <p:cNvPr id="28" name="Text 25"/>
          <p:cNvSpPr/>
          <p:nvPr/>
        </p:nvSpPr>
        <p:spPr>
          <a:xfrm>
            <a:off x="9948672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0.251</a:t>
            </a:r>
            <a:endParaRPr lang="en-US" sz="1150"/>
          </a:p>
        </p:txBody>
      </p:sp>
      <p:sp>
        <p:nvSpPr>
          <p:cNvPr id="29" name="Text 26"/>
          <p:cNvSpPr/>
          <p:nvPr/>
        </p:nvSpPr>
        <p:spPr>
          <a:xfrm>
            <a:off x="10954512" y="3657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+0.188</a:t>
            </a:r>
            <a:endParaRPr lang="en-US" sz="1150"/>
          </a:p>
        </p:txBody>
      </p:sp>
      <p:sp>
        <p:nvSpPr>
          <p:cNvPr id="30" name="Shape 27"/>
          <p:cNvSpPr/>
          <p:nvPr/>
        </p:nvSpPr>
        <p:spPr>
          <a:xfrm>
            <a:off x="7223760" y="4114800"/>
            <a:ext cx="4572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7296912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answer_exact_match</a:t>
            </a:r>
            <a:endParaRPr lang="en-US" sz="1150"/>
          </a:p>
        </p:txBody>
      </p:sp>
      <p:sp>
        <p:nvSpPr>
          <p:cNvPr id="32" name="Text 29"/>
          <p:cNvSpPr/>
          <p:nvPr/>
        </p:nvSpPr>
        <p:spPr>
          <a:xfrm>
            <a:off x="9125712" y="4114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0.240</a:t>
            </a:r>
            <a:endParaRPr lang="en-US" sz="1150"/>
          </a:p>
        </p:txBody>
      </p:sp>
      <p:sp>
        <p:nvSpPr>
          <p:cNvPr id="33" name="Text 30"/>
          <p:cNvSpPr/>
          <p:nvPr/>
        </p:nvSpPr>
        <p:spPr>
          <a:xfrm>
            <a:off x="9948672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0.980</a:t>
            </a:r>
            <a:endParaRPr lang="en-US" sz="1150"/>
          </a:p>
        </p:txBody>
      </p:sp>
      <p:sp>
        <p:nvSpPr>
          <p:cNvPr id="34" name="Text 31"/>
          <p:cNvSpPr/>
          <p:nvPr/>
        </p:nvSpPr>
        <p:spPr>
          <a:xfrm>
            <a:off x="10954512" y="4114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+0.740</a:t>
            </a:r>
            <a:endParaRPr lang="en-US" sz="1150"/>
          </a:p>
        </p:txBody>
      </p:sp>
      <p:sp>
        <p:nvSpPr>
          <p:cNvPr id="35" name="Shape 32"/>
          <p:cNvSpPr/>
          <p:nvPr/>
        </p:nvSpPr>
        <p:spPr>
          <a:xfrm>
            <a:off x="7223760" y="4572000"/>
            <a:ext cx="4572000" cy="457200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296912" y="4572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answer_f1</a:t>
            </a:r>
            <a:endParaRPr lang="en-US" sz="1150"/>
          </a:p>
        </p:txBody>
      </p:sp>
      <p:sp>
        <p:nvSpPr>
          <p:cNvPr id="37" name="Text 34"/>
          <p:cNvSpPr/>
          <p:nvPr/>
        </p:nvSpPr>
        <p:spPr>
          <a:xfrm>
            <a:off x="9125712" y="4572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0.320</a:t>
            </a:r>
            <a:endParaRPr lang="en-US" sz="1150"/>
          </a:p>
        </p:txBody>
      </p:sp>
      <p:sp>
        <p:nvSpPr>
          <p:cNvPr id="38" name="Text 35"/>
          <p:cNvSpPr/>
          <p:nvPr/>
        </p:nvSpPr>
        <p:spPr>
          <a:xfrm>
            <a:off x="9948672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0.980</a:t>
            </a:r>
            <a:endParaRPr lang="en-US" sz="1150"/>
          </a:p>
        </p:txBody>
      </p:sp>
      <p:sp>
        <p:nvSpPr>
          <p:cNvPr id="39" name="Text 36"/>
          <p:cNvSpPr/>
          <p:nvPr/>
        </p:nvSpPr>
        <p:spPr>
          <a:xfrm>
            <a:off x="10954512" y="4572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+0.660</a:t>
            </a:r>
            <a:endParaRPr lang="en-US" sz="1150"/>
          </a:p>
        </p:txBody>
      </p:sp>
      <p:sp>
        <p:nvSpPr>
          <p:cNvPr id="40" name="Shape 37"/>
          <p:cNvSpPr/>
          <p:nvPr/>
        </p:nvSpPr>
        <p:spPr>
          <a:xfrm>
            <a:off x="7223760" y="5212080"/>
            <a:ext cx="4572000" cy="1234440"/>
          </a:xfrm>
          <a:prstGeom prst="roundRect">
            <a:avLst>
              <a:gd name="adj" fmla="val 444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7452360" y="52120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comparison models were used. Evaluation is strictly Base (pre-trained) vs Fine-tuned (LoRA) MedGemma-4B-IT on the RadImageNet-VQA test set.</a:t>
            </a:r>
            <a:endParaRPr lang="en-US" sz="1200"/>
          </a:p>
        </p:txBody>
      </p:sp>
      <p:sp>
        <p:nvSpPr>
          <p:cNvPr id="42" name="Text 3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15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027" y="457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ANALYSIS</a:t>
            </a:r>
            <a:endParaRPr lang="en-US" sz="3200"/>
          </a:p>
        </p:txBody>
      </p:sp>
      <p:pic>
        <p:nvPicPr>
          <p:cNvPr id="3" name="Image 0" descr="/home/claude/imgs/178127760453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581474"/>
            <a:ext cx="11002976" cy="58193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37277" y="64008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4.8: Evaluation summary - Base vs Fine-tuned, with sample qualitative output.</a:t>
            </a:r>
            <a:endParaRPr lang="en-US" sz="1150"/>
          </a:p>
        </p:txBody>
      </p:sp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16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858417" y="1053425"/>
            <a:ext cx="9293290" cy="43676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20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answer_exact_match jumps from 0.24 to 0.98 (+0.74) - near-perfect answer correctness.</a:t>
            </a:r>
            <a:endParaRPr lang="en-US" sz="200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20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answer_f1 improves from 0.32 to 0.98 (+0.66).</a:t>
            </a:r>
            <a:endParaRPr lang="en-US" sz="200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20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reasoning_bleu4 improves from 0.195 to 0.427 (+0.231) - clearer clinical reasoning.</a:t>
            </a:r>
            <a:endParaRPr lang="en-US" sz="200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20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model gives precise, structured findings (e.g. specific bone/lesion references) vs generic descriptions from the base model.</a:t>
            </a:r>
            <a:endParaRPr lang="en-US" sz="200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20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 are largest on answer-level metrics; reasoning-level metrics improve substantially but leave room for further gains.</a:t>
            </a:r>
            <a:endParaRPr lang="en-US" sz="2000"/>
          </a:p>
        </p:txBody>
      </p:sp>
      <p:sp>
        <p:nvSpPr>
          <p:cNvPr id="3" name="Text 39">
            <a:extLst>
              <a:ext uri="{FF2B5EF4-FFF2-40B4-BE49-F238E27FC236}">
                <a16:creationId xmlns:a16="http://schemas.microsoft.com/office/drawing/2014/main" id="{AC2B8F62-F145-170A-5AFB-C131CFB4AC99}"/>
              </a:ext>
            </a:extLst>
          </p:cNvPr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17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133625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3862" y="11430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20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reasoning-augmented Med-VQA dataset from RadImageNet-VQA with chain-of-thought clinical explanations.</a:t>
            </a:r>
            <a:endParaRPr lang="en-US" sz="200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20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MedGemma-4B-IT with LoRA using only ~42M trainable parameters (~1% of total).</a:t>
            </a:r>
            <a:endParaRPr lang="en-US" sz="200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20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model achieved answer_exact_match = 0.98 and answer_f1 = 0.98, vs 0.24 / 0.32 for the base model.</a:t>
            </a:r>
            <a:endParaRPr lang="en-US" sz="200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20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quality improved substantially (reasoning_bleu4: 0.195 → 0.427).</a:t>
            </a:r>
            <a:endParaRPr lang="en-US" sz="200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20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curves (Figures 4.1-4.7) confirm stable convergence with no overfitting.</a:t>
            </a:r>
            <a:endParaRPr lang="en-US" sz="200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20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LoRA-based domain adaptation is computationally feasible on a single GPU - accessible for research teams</a:t>
            </a:r>
            <a:r>
              <a:rPr lang="en-US" sz="1600">
                <a:solidFill>
                  <a:srgbClr val="DC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18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WORKS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FaLayerGrou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1832458"/>
            <a:ext cx="358445" cy="3584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688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Expansion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868680" y="29718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PET, SPECT, histopathology &amp; multi-institutional data</a:t>
            </a:r>
            <a:endParaRPr lang="en-US" sz="1200"/>
          </a:p>
        </p:txBody>
      </p:sp>
      <p:sp>
        <p:nvSpPr>
          <p:cNvPr id="8" name="Shape 5"/>
          <p:cNvSpPr/>
          <p:nvPr/>
        </p:nvSpPr>
        <p:spPr>
          <a:xfrm>
            <a:off x="4480560" y="1463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709160" y="1691640"/>
            <a:ext cx="640080" cy="640080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icons/FaRobo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978" y="183245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4688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Alignment</a:t>
            </a:r>
            <a:endParaRPr lang="en-US" sz="1500"/>
          </a:p>
        </p:txBody>
      </p:sp>
      <p:sp>
        <p:nvSpPr>
          <p:cNvPr id="12" name="Text 8"/>
          <p:cNvSpPr/>
          <p:nvPr/>
        </p:nvSpPr>
        <p:spPr>
          <a:xfrm>
            <a:off x="4709160" y="29718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feedback via preference learning</a:t>
            </a:r>
            <a:endParaRPr lang="en-US" sz="1200"/>
          </a:p>
        </p:txBody>
      </p:sp>
      <p:sp>
        <p:nvSpPr>
          <p:cNvPr id="13" name="Shape 9"/>
          <p:cNvSpPr/>
          <p:nvPr/>
        </p:nvSpPr>
        <p:spPr>
          <a:xfrm>
            <a:off x="8321040" y="1463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54964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icons/FaBookOpe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0458" y="183245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24688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</a:t>
            </a:r>
            <a:endParaRPr lang="en-US" sz="1500"/>
          </a:p>
        </p:txBody>
      </p:sp>
      <p:sp>
        <p:nvSpPr>
          <p:cNvPr id="17" name="Text 12"/>
          <p:cNvSpPr/>
          <p:nvPr/>
        </p:nvSpPr>
        <p:spPr>
          <a:xfrm>
            <a:off x="8549640" y="29718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answers with clinical guideline retrieval</a:t>
            </a:r>
            <a:endParaRPr lang="en-US" sz="1200"/>
          </a:p>
        </p:txBody>
      </p:sp>
      <p:sp>
        <p:nvSpPr>
          <p:cNvPr id="18" name="Shape 13"/>
          <p:cNvSpPr/>
          <p:nvPr/>
        </p:nvSpPr>
        <p:spPr>
          <a:xfrm>
            <a:off x="640080" y="388620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868680" y="4114800"/>
            <a:ext cx="640080" cy="640080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/home/claude/icons/FaStethoscop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498" y="4255618"/>
            <a:ext cx="358445" cy="35844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" y="4892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Integration</a:t>
            </a:r>
            <a:endParaRPr lang="en-US" sz="1500"/>
          </a:p>
        </p:txBody>
      </p:sp>
      <p:sp>
        <p:nvSpPr>
          <p:cNvPr id="22" name="Text 16"/>
          <p:cNvSpPr/>
          <p:nvPr/>
        </p:nvSpPr>
        <p:spPr>
          <a:xfrm>
            <a:off x="868680" y="5394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 / PACS-compatible deployment</a:t>
            </a:r>
            <a:endParaRPr lang="en-US" sz="1200"/>
          </a:p>
        </p:txBody>
      </p:sp>
      <p:sp>
        <p:nvSpPr>
          <p:cNvPr id="23" name="Shape 17"/>
          <p:cNvSpPr/>
          <p:nvPr/>
        </p:nvSpPr>
        <p:spPr>
          <a:xfrm>
            <a:off x="4480560" y="388620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4709160" y="4114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/home/claude/icons/FaCheckCircl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9978" y="4255618"/>
            <a:ext cx="358445" cy="35844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09160" y="4892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Mitigation</a:t>
            </a:r>
            <a:endParaRPr lang="en-US" sz="1500"/>
          </a:p>
        </p:txBody>
      </p:sp>
      <p:sp>
        <p:nvSpPr>
          <p:cNvPr id="27" name="Text 20"/>
          <p:cNvSpPr/>
          <p:nvPr/>
        </p:nvSpPr>
        <p:spPr>
          <a:xfrm>
            <a:off x="4709160" y="5394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calibration &amp; factual grounding</a:t>
            </a:r>
            <a:endParaRPr lang="en-US" sz="1200"/>
          </a:p>
        </p:txBody>
      </p:sp>
      <p:sp>
        <p:nvSpPr>
          <p:cNvPr id="28" name="Shape 21"/>
          <p:cNvSpPr/>
          <p:nvPr/>
        </p:nvSpPr>
        <p:spPr>
          <a:xfrm>
            <a:off x="8321040" y="388620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8549640" y="4114800"/>
            <a:ext cx="640080" cy="640080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/home/claude/icons/FaRocke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0458" y="4255618"/>
            <a:ext cx="358445" cy="35844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49640" y="4892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&amp; Multilingual</a:t>
            </a:r>
            <a:endParaRPr lang="en-US" sz="1500"/>
          </a:p>
        </p:txBody>
      </p:sp>
      <p:sp>
        <p:nvSpPr>
          <p:cNvPr id="32" name="Text 24"/>
          <p:cNvSpPr/>
          <p:nvPr/>
        </p:nvSpPr>
        <p:spPr>
          <a:xfrm>
            <a:off x="8549640" y="5394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point-of-care app, regional languages</a:t>
            </a:r>
            <a:endParaRPr lang="en-US" sz="1200"/>
          </a:p>
        </p:txBody>
      </p:sp>
      <p:sp>
        <p:nvSpPr>
          <p:cNvPr id="33" name="Text 2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19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Antol et al. (2015). VQA: Visual Question Answering. ICCV.</a:t>
            </a:r>
            <a:endParaRPr lang="en-US" sz="1250"/>
          </a:p>
          <a:p>
            <a:pPr marL="0" indent="0">
              <a:spcAft>
                <a:spcPts val="100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Lau et al. (2018). A dataset of clinically generated visual questions and answers about radiology images. Scientific Data.</a:t>
            </a:r>
            <a:endParaRPr lang="en-US" sz="1250"/>
          </a:p>
          <a:p>
            <a:pPr marL="0" indent="0">
              <a:spcAft>
                <a:spcPts val="100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Ben Abacha et al. (2019). VQA-Med: ImageCLEF 2019 Medical VQA Task. CLEF Working Notes.</a:t>
            </a:r>
            <a:endParaRPr lang="en-US" sz="1250"/>
          </a:p>
          <a:p>
            <a:pPr marL="0" indent="0">
              <a:spcAft>
                <a:spcPts val="100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Li et al. (2023). LLaVA-Med: Training a Large Language-and-Vision Assistant for Biomedicine. NeurIPS.</a:t>
            </a:r>
            <a:endParaRPr lang="en-US" sz="1250"/>
          </a:p>
          <a:p>
            <a:pPr marL="0" indent="0">
              <a:spcAft>
                <a:spcPts val="100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Zhang et al. (2023). BiomedCLIP: a multimodal biomedical foundation model. arXiv:2303.00915.</a:t>
            </a:r>
            <a:endParaRPr lang="en-US" sz="1250"/>
          </a:p>
          <a:p>
            <a:pPr marL="0" indent="0">
              <a:spcAft>
                <a:spcPts val="100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Hu et al. (2022). LoRA: Low-Rank Adaptation of Large Language Models. ICLR.</a:t>
            </a:r>
            <a:endParaRPr lang="en-US" sz="1250"/>
          </a:p>
          <a:p>
            <a:pPr marL="0" indent="0">
              <a:spcAft>
                <a:spcPts val="100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Google DeepMind (2024). MedGemma: Medical multimodal models from Google. Technical Report.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6309360" y="141732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Radford et al. (2021). Learning transferable visual models from natural language supervision (CLIP). ICML.</a:t>
            </a:r>
            <a:endParaRPr lang="en-US" sz="1250"/>
          </a:p>
          <a:p>
            <a:pPr marL="0" indent="0">
              <a:spcAft>
                <a:spcPts val="100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Ziegler et al. (2019). Fine-tuning language models from human preferences. arXiv:1909.08593.</a:t>
            </a:r>
            <a:endParaRPr lang="en-US" sz="1250"/>
          </a:p>
          <a:p>
            <a:pPr marL="0" indent="0">
              <a:spcAft>
                <a:spcPts val="100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Raidium (2024). RadImageNet-VQA dataset. Hugging Face Hub.</a:t>
            </a:r>
            <a:endParaRPr lang="en-US" sz="1250"/>
          </a:p>
          <a:p>
            <a:pPr marL="0" indent="0">
              <a:spcAft>
                <a:spcPts val="100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 Wolf et al. (2020). Transformers: State-of-the-art NLP. EMNLP System Demos.</a:t>
            </a:r>
            <a:endParaRPr lang="en-US" sz="1250"/>
          </a:p>
          <a:p>
            <a:pPr marL="0" indent="0">
              <a:spcAft>
                <a:spcPts val="100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 Papineni et al. (2002). BLEU: a method for automatic evaluation of machine translation. ACL.</a:t>
            </a:r>
            <a:endParaRPr lang="en-US" sz="1250"/>
          </a:p>
          <a:p>
            <a:pPr marL="0" indent="0">
              <a:spcAft>
                <a:spcPts val="100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[13] Banerjee &amp; Lavie (2005). METEOR: An automatic metric for MT evaluation. ACL Workshop.</a:t>
            </a:r>
            <a:endParaRPr lang="en-US" sz="1250"/>
          </a:p>
          <a:p>
            <a:pPr marL="0" indent="0">
              <a:spcAft>
                <a:spcPts val="100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[14] Touvron et al. (2023). LLaMA: Open and efficient foundation language models. arXiv:2302.13971.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20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EE6C4D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592928" y="19202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FaStethoscop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212" y="2141525"/>
            <a:ext cx="563270" cy="563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1089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/>
          </a:p>
        </p:txBody>
      </p:sp>
      <p:sp>
        <p:nvSpPr>
          <p:cNvPr id="8" name="Text 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</a:rPr>
              <a:t>21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1607</Words>
  <Application>Microsoft Office PowerPoint</Application>
  <PresentationFormat>Widescreen</PresentationFormat>
  <Paragraphs>248</Paragraphs>
  <Slides>21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Visual Question Answering</dc:title>
  <dc:subject>PptxGenJS Presentation</dc:subject>
  <dc:creator>Student</dc:creator>
  <cp:lastModifiedBy>iyer swathy</cp:lastModifiedBy>
  <cp:revision>7</cp:revision>
  <dcterms:created xsi:type="dcterms:W3CDTF">2026-06-26T03:22:28Z</dcterms:created>
  <dcterms:modified xsi:type="dcterms:W3CDTF">2026-07-02T01:01:51Z</dcterms:modified>
</cp:coreProperties>
</file>